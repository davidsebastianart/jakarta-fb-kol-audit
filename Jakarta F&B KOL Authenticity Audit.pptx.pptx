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ns Bold" charset="1" panose="00000000000000000000"/>
      <p:regular r:id="rId26"/>
    </p:embeddedFont>
    <p:embeddedFont>
      <p:font typeface="Open Sans" charset="1" panose="00000000000000000000"/>
      <p:regular r:id="rId27"/>
    </p:embeddedFont>
    <p:embeddedFont>
      <p:font typeface="Arial Bold" charset="1" panose="020B0704020202020204"/>
      <p:regular r:id="rId36"/>
    </p:embeddedFont>
    <p:embeddedFont>
      <p:font typeface="Open Sans Italics" charset="1" panose="00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https://docs.google.com/spreadsheets/d/1-m3QunBeqK8OXrMjgusoDXp207NBMAbjdrfEDLGNNWM/edit?usp=sharing" TargetMode="External" Type="http://schemas.openxmlformats.org/officeDocument/2006/relationships/hyperlink"/><Relationship Id="rId6" Target="https://datastudio.google.com/reporting/fa952fc2-3cd4-4353-b6b3-6b2d91f87861" TargetMode="External" Type="http://schemas.openxmlformats.org/officeDocument/2006/relationships/hyperlink"/><Relationship Id="rId7" Target="https://colab.research.google.com/drive/19lfAebtBVxmVJ7kF5xZY6WR6VqVNMyZE?usp=sharing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5202" y="3251473"/>
            <a:ext cx="13451830" cy="92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6"/>
              </a:lnSpc>
            </a:pPr>
            <a:r>
              <a:rPr lang="en-US" b="true" sz="60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Jakarta F&amp;B KOL Authenticity Audit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5202" y="6086485"/>
            <a:ext cx="1291456" cy="469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b="true" sz="2452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Juli </a:t>
            </a:r>
            <a:r>
              <a:rPr lang="en-US" b="true" sz="2452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5202" y="6595662"/>
            <a:ext cx="6108078" cy="499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462">
                <a:solidFill>
                  <a:srgbClr val="202124"/>
                </a:solidFill>
                <a:latin typeface="Open Sans"/>
                <a:ea typeface="Open Sans"/>
                <a:cs typeface="Open Sans"/>
                <a:sym typeface="Open Sans"/>
              </a:rPr>
              <a:t>David Sebastian Aritonang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5202" y="4118124"/>
            <a:ext cx="15517578" cy="129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3900">
                <a:solidFill>
                  <a:srgbClr val="202124"/>
                </a:solidFill>
                <a:latin typeface="Open Sans"/>
                <a:ea typeface="Open Sans"/>
                <a:cs typeface="Open Sans"/>
                <a:sym typeface="Open Sans"/>
              </a:rPr>
              <a:t>Me</a:t>
            </a:r>
            <a:r>
              <a:rPr lang="en-US" sz="3900">
                <a:solidFill>
                  <a:srgbClr val="202124"/>
                </a:solidFill>
                <a:latin typeface="Open Sans"/>
                <a:ea typeface="Open Sans"/>
                <a:cs typeface="Open Sans"/>
                <a:sym typeface="Open Sans"/>
              </a:rPr>
              <a:t>ndeteksi Fake Engagement &amp; Analisis Sentimen Audiens</a:t>
            </a:r>
          </a:p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202124"/>
                </a:solidFill>
                <a:latin typeface="Open Sans"/>
                <a:ea typeface="Open Sans"/>
                <a:cs typeface="Open Sans"/>
                <a:sym typeface="Open Sans"/>
              </a:rPr>
              <a:t>B2B DaaS (Data-as-a-Service) MVP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18614" y="1114425"/>
            <a:ext cx="7850772" cy="8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DAFTAR ISI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8678" y="2220916"/>
            <a:ext cx="3771014" cy="70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75" indent="-250258" lvl="2">
              <a:lnSpc>
                <a:spcPts val="5517"/>
              </a:lnSpc>
              <a:buFont typeface="Arial"/>
              <a:buChar char="⚬"/>
            </a:pPr>
            <a:r>
              <a:rPr lang="en-US" b="true" sz="3284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Pendahuluan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18678" y="3042142"/>
            <a:ext cx="10471984" cy="6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75" indent="-250258" lvl="2">
              <a:lnSpc>
                <a:spcPts val="5517"/>
              </a:lnSpc>
              <a:buFont typeface="Arial"/>
              <a:buChar char="⚬"/>
            </a:pPr>
            <a:r>
              <a:rPr lang="en-US" b="true" sz="3284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Gambaran Umum Data &amp; Metodologi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18678" y="3863588"/>
            <a:ext cx="12876808" cy="6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75" indent="-250258" lvl="2">
              <a:lnSpc>
                <a:spcPts val="5517"/>
              </a:lnSpc>
              <a:buFont typeface="Arial"/>
              <a:buChar char="⚬"/>
            </a:pPr>
            <a:r>
              <a:rPr lang="en-US" b="true" sz="3284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KOL Authenticity Leaderboard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18678" y="4685033"/>
            <a:ext cx="10956076" cy="6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75" indent="-250258" lvl="2">
              <a:lnSpc>
                <a:spcPts val="5517"/>
              </a:lnSpc>
              <a:buFont typeface="Arial"/>
              <a:buChar char="⚬"/>
            </a:pPr>
            <a:r>
              <a:rPr lang="en-US" b="true" sz="3284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Spam Radar &amp; Sentiment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18678" y="5506488"/>
            <a:ext cx="11250644" cy="6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75" indent="-250258" lvl="2">
              <a:lnSpc>
                <a:spcPts val="5517"/>
              </a:lnSpc>
              <a:buFont typeface="Arial"/>
              <a:buChar char="⚬"/>
            </a:pPr>
            <a:r>
              <a:rPr lang="en-US" b="true" sz="3284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Insights &amp; Rekomendasi untuk F&amp;B Brands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18678" y="6327934"/>
            <a:ext cx="11250644" cy="6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775" indent="-250258" lvl="2">
              <a:lnSpc>
                <a:spcPts val="5517"/>
              </a:lnSpc>
              <a:buFont typeface="Arial"/>
              <a:buChar char="⚬"/>
            </a:pPr>
            <a:r>
              <a:rPr lang="en-US" b="true" sz="3284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45717"/>
            <a:ext cx="7850772" cy="8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PENDAHULUAN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783264"/>
            <a:ext cx="16230600" cy="70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5"/>
              </a:lnSpc>
            </a:pPr>
            <a:r>
              <a:rPr lang="en-US" b="true" sz="3259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Pertanyaan Bisnis: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08383"/>
            <a:ext cx="13806316" cy="68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Latar Belakang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9800" y="3424295"/>
            <a:ext cx="15809500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Agensi digital dan b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rand F&amp;B lokal di Jakarta seringkali mengalami </a:t>
            </a:r>
            <a:r>
              <a:rPr lang="en-US" b="true" sz="2000">
                <a:solidFill>
                  <a:srgbClr val="C4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budget waste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(pemborosan anggaran pemasaran) karena membayar Influencer/KOL berdasarkan metrik yang dimanipulasi oleh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bot (fake engagement).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Proyek ini membangun MVP (Minimum Viable Product) untuk solusi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Data-as-a-Service (DaaS)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mengaudit otentisitas metrik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tersebut secara otomatis.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24389"/>
            <a:ext cx="16230600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apa di antara Top F&amp;B KOL Jakarta yang memiliki persentase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fake engagement (bot)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tertinggi/terendah?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Apa saja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modus operandi bot (Spam)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yang paling sering ditemukan di kolom komentar?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Bagaimana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sentimen audience (manusia asli)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terhadap konten KOL tersebut?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&amp; Rekomendasi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apa yang dapat diberikan kepada Agensi/Brand sebelum menyewa KOL?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3319"/>
            <a:ext cx="12385143" cy="185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GAMBARAN UMUM DATA &amp; METODOLOGI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39132"/>
            <a:ext cx="13806316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164063"/>
            <a:ext cx="16230600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1: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Data Collection via Apify Cloud Scraper (Instagram Posts &amp; Comments).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2: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Data Cleaning &amp; ETL (Extract, Transform, Load) menggunakan Python (Pandas).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3: 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Rule-Based Bot Detection &amp; Sentiment Analysis.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4-5: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Schema Design &amp; Interactive Dashboarding (Google Data Studio).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31135"/>
            <a:ext cx="13806316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yang digunakan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55263"/>
            <a:ext cx="11134079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Sampel: 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300 Komentar Teratas (Top Comments) d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ari 3 Benchmark KOL (@anakjajan, @sibungbung, @henjiwong).</a:t>
            </a: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lom Utama (Fitur Analisis): 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kol_username, comment_text, is_bot_suspicion (Boolean), bot_reason, dan sentiment.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82652"/>
            <a:ext cx="13806316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 Preparation &amp; Cleaning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97143"/>
            <a:ext cx="16230600" cy="416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Raw Data Complexity: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Hasil ekstraksi scraper memiliki ratusan kolom metadata yang tidak relevan (seperti childPosts/...).</a:t>
            </a:r>
          </a:p>
          <a:p>
            <a:pPr algn="l" marL="863601" indent="-287867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Solusi: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Difilter menggunakan Pandas hanya menyisakan metrik krusial (Shortcode, Likes, Text, Timestamp).</a:t>
            </a:r>
          </a:p>
          <a:p>
            <a:pPr algn="l">
              <a:lnSpc>
                <a:spcPts val="3360"/>
              </a:lnSpc>
            </a:pP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Relation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 Mapping: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Data komentar dan data post terpisah.</a:t>
            </a:r>
          </a:p>
          <a:p>
            <a:pPr algn="l" marL="863601" indent="-287867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Solusi: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Melakukan INNER JOIN berdasarkan post_short_code (Foreign Key) untuk menggabungkan dataset.</a:t>
            </a:r>
          </a:p>
          <a:p>
            <a:pPr algn="l">
              <a:lnSpc>
                <a:spcPts val="3360"/>
              </a:lnSpc>
            </a:pP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alse Positives pada Algoritma: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Algoritma NLP tahap awal membaca kata "jual" sebagai Spam, sehingga komentar asli (review harga) dianggap Bot.</a:t>
            </a:r>
          </a:p>
          <a:p>
            <a:pPr algn="l" marL="863601" indent="-287867" lvl="2">
              <a:lnSpc>
                <a:spcPts val="3360"/>
              </a:lnSpc>
              <a:buFont typeface="Arial"/>
              <a:buChar char="⚬"/>
            </a:pP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Solusi: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Iterasi algoritma menggunakan Regex Word Boundaries (\b) dan penyesuaian leksikon F&amp;B, sehingga akurasi deteksi bot meningkat drastis.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3319"/>
            <a:ext cx="12404173" cy="185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b="true" sz="6006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KOL AUTHENTICITY LEADERBOARD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" r="0" b="-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" y="5053084"/>
            <a:ext cx="18287995" cy="5243994"/>
            <a:chOff x="0" y="0"/>
            <a:chExt cx="4816591" cy="1381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1" cy="1381134"/>
            </a:xfrm>
            <a:custGeom>
              <a:avLst/>
              <a:gdLst/>
              <a:ahLst/>
              <a:cxnLst/>
              <a:rect r="r" b="b" t="t" l="l"/>
              <a:pathLst>
                <a:path h="1381134" w="4816591">
                  <a:moveTo>
                    <a:pt x="0" y="0"/>
                  </a:moveTo>
                  <a:lnTo>
                    <a:pt x="4816591" y="0"/>
                  </a:lnTo>
                  <a:lnTo>
                    <a:pt x="4816591" y="1381134"/>
                  </a:lnTo>
                  <a:lnTo>
                    <a:pt x="0" y="1381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1" cy="1419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52182"/>
            <a:ext cx="16640461" cy="3546498"/>
          </a:xfrm>
          <a:custGeom>
            <a:avLst/>
            <a:gdLst/>
            <a:ahLst/>
            <a:cxnLst/>
            <a:rect r="r" b="b" t="t" l="l"/>
            <a:pathLst>
              <a:path h="3546498" w="16640461">
                <a:moveTo>
                  <a:pt x="0" y="0"/>
                </a:moveTo>
                <a:lnTo>
                  <a:pt x="16640461" y="0"/>
                </a:lnTo>
                <a:lnTo>
                  <a:pt x="16640461" y="3546498"/>
                </a:lnTo>
                <a:lnTo>
                  <a:pt x="0" y="3546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8420" y="5515449"/>
            <a:ext cx="7887836" cy="62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KOL </a:t>
            </a:r>
            <a:r>
              <a:rPr lang="en-US" b="true" sz="3200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Authenticity Leaderboard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945" y="6442025"/>
            <a:ext cx="15116958" cy="297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</a:t>
            </a: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ey Insights:</a:t>
            </a:r>
          </a:p>
          <a:p>
            <a:pPr algn="l" marL="462687" indent="-154229" lvl="2">
              <a:lnSpc>
                <a:spcPts val="3398"/>
              </a:lnSpc>
              <a:buFont typeface="Arial"/>
              <a:buChar char="⚬"/>
            </a:pP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@sibungbung 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memiliki proporsi </a:t>
            </a:r>
            <a:r>
              <a:rPr lang="en-US" b="true" sz="2024">
                <a:solidFill>
                  <a:srgbClr val="4387F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audiens organik paling tinggi (98.31%)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. Angka ini membuktikan bahwa interaksi di akun tersebut sangat murni dan minim manipulasi, menjadikannya pilihan teraman untuk brand awareness.</a:t>
            </a:r>
          </a:p>
          <a:p>
            <a:pPr algn="l">
              <a:lnSpc>
                <a:spcPts val="3399"/>
              </a:lnSpc>
            </a:pPr>
          </a:p>
          <a:p>
            <a:pPr algn="l" marL="462687" indent="-154229" lvl="2">
              <a:lnSpc>
                <a:spcPts val="3398"/>
              </a:lnSpc>
              <a:buFont typeface="Arial"/>
              <a:buChar char="⚬"/>
            </a:pP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Sebaliknya, </a:t>
            </a: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@henjiwong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mencatat tingkat </a:t>
            </a:r>
            <a:r>
              <a:rPr lang="en-US" b="true" sz="2024">
                <a:solidFill>
                  <a:srgbClr val="DB45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fake engagement tertinggi (7.84%)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(Warna: Merah Terang) dibandingkan dua KOL lainnya. Hal ini menjadi indikator bagi brand untuk lebih waspada dan tidak sekadar melihat total metrik interaksi kotor.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0365" y="1581987"/>
            <a:ext cx="68907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98.31%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83725" y="2008071"/>
            <a:ext cx="68907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92.16%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52087" y="2443680"/>
            <a:ext cx="68907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94.67%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31383" y="1998546"/>
            <a:ext cx="57611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7.84</a:t>
            </a:r>
            <a:r>
              <a:rPr lang="en-US" b="true" sz="1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37630" y="2438600"/>
            <a:ext cx="57611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5.33</a:t>
            </a:r>
            <a:r>
              <a:rPr lang="en-US" b="true" sz="1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04532"/>
            <a:ext cx="10504661" cy="1858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8"/>
              </a:lnSpc>
            </a:pPr>
            <a:r>
              <a:rPr lang="en-US" b="true" sz="6006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6006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PAM RADAR &amp; SENTIMENT </a:t>
            </a:r>
          </a:p>
          <a:p>
            <a:pPr algn="l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" r="0" b="-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" y="5053084"/>
            <a:ext cx="18287995" cy="5243994"/>
            <a:chOff x="0" y="0"/>
            <a:chExt cx="4816591" cy="1381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1" cy="1381134"/>
            </a:xfrm>
            <a:custGeom>
              <a:avLst/>
              <a:gdLst/>
              <a:ahLst/>
              <a:cxnLst/>
              <a:rect r="r" b="b" t="t" l="l"/>
              <a:pathLst>
                <a:path h="1381134" w="4816591">
                  <a:moveTo>
                    <a:pt x="0" y="0"/>
                  </a:moveTo>
                  <a:lnTo>
                    <a:pt x="4816591" y="0"/>
                  </a:lnTo>
                  <a:lnTo>
                    <a:pt x="4816591" y="1381134"/>
                  </a:lnTo>
                  <a:lnTo>
                    <a:pt x="0" y="1381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1" cy="1419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10612"/>
            <a:ext cx="16611216" cy="4142422"/>
          </a:xfrm>
          <a:custGeom>
            <a:avLst/>
            <a:gdLst/>
            <a:ahLst/>
            <a:cxnLst/>
            <a:rect r="r" b="b" t="t" l="l"/>
            <a:pathLst>
              <a:path h="4142422" w="16611216">
                <a:moveTo>
                  <a:pt x="0" y="0"/>
                </a:moveTo>
                <a:lnTo>
                  <a:pt x="16611216" y="0"/>
                </a:lnTo>
                <a:lnTo>
                  <a:pt x="16611216" y="4142422"/>
                </a:lnTo>
                <a:lnTo>
                  <a:pt x="0" y="4142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712581"/>
            <a:ext cx="15116958" cy="382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Kualitas Audi</a:t>
            </a: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ens Manusia A</a:t>
            </a: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sli (Sentimen):</a:t>
            </a:r>
          </a:p>
          <a:p>
            <a:pPr algn="l" marL="436982" indent="-218491" lvl="1">
              <a:lnSpc>
                <a:spcPts val="3398"/>
              </a:lnSpc>
              <a:buFont typeface="Arial"/>
              <a:buChar char="•"/>
            </a:pP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Dari </a:t>
            </a: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281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audiens organik, secara ekstrem mayoritas menunjukkan </a:t>
            </a: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sentimen Netral (84.7%).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Ini mengindikasikan bahwa sebagian besar audiens lebih cenderung melakukan observasi, tagging teman, atau sekadar memberikan reaksi pendek tanpa opini emosional yang spesifik terhadap makanan.</a:t>
            </a:r>
          </a:p>
          <a:p>
            <a:pPr algn="l">
              <a:lnSpc>
                <a:spcPts val="3398"/>
              </a:lnSpc>
            </a:pPr>
          </a:p>
          <a:p>
            <a:pPr algn="l">
              <a:lnSpc>
                <a:spcPts val="3398"/>
              </a:lnSpc>
            </a:pPr>
            <a:r>
              <a:rPr lang="en-US" b="true" sz="2024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Bot Modus Operandi:</a:t>
            </a:r>
          </a:p>
          <a:p>
            <a:pPr algn="l" marL="436982" indent="-218491" lvl="1">
              <a:lnSpc>
                <a:spcPts val="3398"/>
              </a:lnSpc>
              <a:buFont typeface="Arial"/>
              <a:buChar char="•"/>
            </a:pP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Dari 14 indikasi bot yang terdeteksi, 100% serangan diklasifikasikan sebagai </a:t>
            </a:r>
            <a:r>
              <a:rPr lang="en-US" b="true" sz="2024">
                <a:solidFill>
                  <a:srgbClr val="C4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Effort / Emoji Spam</a:t>
            </a:r>
            <a:r>
              <a:rPr lang="en-US" sz="2024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. Ini membuktikan bahwa akun-akun tersebut kemungkinan besar menggunakan layanan click-farm gratisan hanya untuk memanipulasi angka metrik komentar (Vanity Metrics).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04532"/>
            <a:ext cx="14157133" cy="279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8"/>
              </a:lnSpc>
            </a:pPr>
            <a:r>
              <a:rPr lang="en-US" b="true" sz="6006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INSIGHTS</a:t>
            </a:r>
            <a:r>
              <a:rPr lang="en-US" b="true" sz="6006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&amp; REKOMENDASI UNTUK F&amp;B BRANDS</a:t>
            </a:r>
          </a:p>
          <a:p>
            <a:pPr algn="l">
              <a:lnSpc>
                <a:spcPts val="7424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29076"/>
            <a:ext cx="15386877" cy="5628847"/>
            <a:chOff x="0" y="0"/>
            <a:chExt cx="20515835" cy="75051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11587747" cy="546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95"/>
                </a:lnSpc>
              </a:pPr>
              <a:r>
                <a:rPr lang="en-US" b="true" sz="2258">
                  <a:solidFill>
                    <a:srgbClr val="2021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1. Rekomendasi Pemilihan KOL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94139"/>
              <a:ext cx="20515835" cy="2167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7201" indent="-152400" lvl="2">
                <a:lnSpc>
                  <a:spcPts val="3360"/>
                </a:lnSpc>
                <a:buFont typeface="Arial"/>
                <a:buChar char="⚬"/>
              </a:pP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P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rioritaskan bekerja sama dengan </a:t>
              </a:r>
              <a:r>
                <a:rPr lang="en-US" b="true" sz="2000">
                  <a:solidFill>
                    <a:srgbClr val="79797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@sibungbung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 untuk meminimalisir risiko budget waste, karena terbukti memiliki </a:t>
              </a:r>
              <a:r>
                <a:rPr lang="en-US" b="true" sz="2000">
                  <a:solidFill>
                    <a:srgbClr val="1A73E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tingkat interaksi organik tertinggi.</a:t>
              </a:r>
            </a:p>
            <a:p>
              <a:pPr algn="just" marL="457201" indent="-152400" lvl="2">
                <a:lnSpc>
                  <a:spcPts val="3360"/>
                </a:lnSpc>
                <a:buFont typeface="Arial"/>
                <a:buChar char="⚬"/>
              </a:pP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Jika bekerja sama dengan KOL lain yang rasio bot-nya lebih tinggi, brand berhak menegosiasikan harga (CPA/CPM) yang lebih ketat.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111279"/>
              <a:ext cx="11587747" cy="546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95"/>
                </a:lnSpc>
              </a:pPr>
              <a:r>
                <a:rPr lang="en-US" b="true" sz="2258">
                  <a:solidFill>
                    <a:srgbClr val="2021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  <a:r>
                <a:rPr lang="en-US" b="true" sz="2258">
                  <a:solidFill>
                    <a:srgbClr val="2021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 Strategi Konten untuk Memecah "Sentimen Netral"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03890"/>
              <a:ext cx="20515835" cy="1609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7201" indent="-152400" lvl="2">
                <a:lnSpc>
                  <a:spcPts val="3360"/>
                </a:lnSpc>
                <a:buFont typeface="Arial"/>
                <a:buChar char="⚬"/>
              </a:pP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K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arena 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s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entimen audiens F&amp;B didominasi </a:t>
              </a:r>
              <a:r>
                <a:rPr lang="en-US" b="true" sz="2000">
                  <a:solidFill>
                    <a:srgbClr val="79797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Netral (84.7%),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 brand perlu mewajibkan KOL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nt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u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k 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me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ran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ca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ng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 konten dengan Call-to-Action (CTA) yang lebih memancing opini (contoh: "Kalian lebih suka menu yang pedas atau manis? Komen di bawah!") agar engagement lebih berkualitas dan tidak monoton.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762229"/>
              <a:ext cx="11587747" cy="546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95"/>
                </a:lnSpc>
              </a:pPr>
              <a:r>
                <a:rPr lang="en-US" b="true" sz="2258">
                  <a:solidFill>
                    <a:srgbClr val="2021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  <a:r>
                <a:rPr lang="en-US" b="true" sz="2258">
                  <a:solidFill>
                    <a:srgbClr val="2021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 Manfaatkan DaaS (Data-as-a-Service)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454840"/>
              <a:ext cx="20515835" cy="1050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7201" indent="-152400" lvl="2">
                <a:lnSpc>
                  <a:spcPts val="3360"/>
                </a:lnSpc>
                <a:buFont typeface="Arial"/>
                <a:buChar char="⚬"/>
              </a:pP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J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angan terkecoh Vanity M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etr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ics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 Gunakan pipeline audi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t oto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matis sepe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rti</a:t>
              </a:r>
              <a:r>
                <a:rPr lang="en-US" sz="2000">
                  <a:solidFill>
                    <a:srgbClr val="797979"/>
                  </a:solidFill>
                  <a:latin typeface="Open Sans"/>
                  <a:ea typeface="Open Sans"/>
                  <a:cs typeface="Open Sans"/>
                  <a:sym typeface="Open Sans"/>
                </a:rPr>
                <a:t> sistem ini secara rutin untuk memonitor kesehatan pemasaran digital brand.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3319"/>
            <a:ext cx="8492452" cy="8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76415"/>
            <a:ext cx="8690810" cy="43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5"/>
              </a:lnSpc>
            </a:pPr>
            <a:r>
              <a:rPr lang="en-US" b="true" sz="2258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9100" y="3470105"/>
            <a:ext cx="13289008" cy="374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Imp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lementasi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Rule-Based Bot Detection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dengan Python terbukti sukses mengotomatisasi proses penyaringan noise (spam) dengan presisi tinggi, menghilangkan </a:t>
            </a:r>
            <a:r>
              <a:rPr lang="en-US" sz="2000" i="true">
                <a:solidFill>
                  <a:srgbClr val="79797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False Positives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di konteks industri F&amp;B.</a:t>
            </a:r>
          </a:p>
          <a:p>
            <a:pPr algn="l">
              <a:lnSpc>
                <a:spcPts val="3360"/>
              </a:lnSpc>
            </a:pP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Google Looker Studio efektif menyajikan data teknis kompleks (</a:t>
            </a:r>
            <a:r>
              <a:rPr lang="en-US" sz="2000" i="true">
                <a:solidFill>
                  <a:srgbClr val="797979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Sentiment &amp; Bot Classification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) menjadi </a:t>
            </a:r>
            <a:r>
              <a:rPr lang="en-US" b="true" sz="2000">
                <a:solidFill>
                  <a:srgbClr val="79797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Executive Dashboard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yang interaktif dan mudah dipahami oleh pengambil keputusan di level strategis (C-Level/Agency Managers).</a:t>
            </a:r>
          </a:p>
          <a:p>
            <a:pPr algn="l">
              <a:lnSpc>
                <a:spcPts val="3360"/>
              </a:lnSpc>
            </a:pPr>
          </a:p>
          <a:p>
            <a:pPr algn="just" marL="457201" indent="-152400" lvl="2">
              <a:lnSpc>
                <a:spcPts val="3360"/>
              </a:lnSpc>
              <a:buFont typeface="Arial"/>
              <a:buChar char="⚬"/>
            </a:pP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Pendekatan data-driven ini </a:t>
            </a:r>
            <a:r>
              <a:rPr lang="en-US" b="true" sz="2000">
                <a:solidFill>
                  <a:srgbClr val="1A73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menyelamatkan agensi dari budget waste</a:t>
            </a:r>
            <a:r>
              <a:rPr lang="en-US" sz="2000">
                <a:solidFill>
                  <a:srgbClr val="797979"/>
                </a:solidFill>
                <a:latin typeface="Open Sans"/>
                <a:ea typeface="Open Sans"/>
                <a:cs typeface="Open Sans"/>
                <a:sym typeface="Open Sans"/>
              </a:rPr>
              <a:t> (Warna: Hijau Emerald) dan memberikan garansi ROI pemasaran yang jauh lebih akurat.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97774" y="1114425"/>
            <a:ext cx="8492452" cy="8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REFERENSI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55743" y="2653236"/>
            <a:ext cx="7776524" cy="47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b="true" sz="2258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55743" y="3300584"/>
            <a:ext cx="7776524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000" u="sng">
                <a:solidFill>
                  <a:srgbClr val="1A73E8"/>
                </a:solidFill>
                <a:latin typeface="Open Sans"/>
                <a:ea typeface="Open Sans"/>
                <a:cs typeface="Open Sans"/>
                <a:sym typeface="Open Sans"/>
                <a:hlinkClick r:id="rId5" tooltip="https://docs.google.com/spreadsheets/d/1-m3QunBeqK8OXrMjgusoDXp207NBMAbjdrfEDLGNNWM/edit?usp=sharing"/>
              </a:rPr>
              <a:t>https://docs.google.com/spreadsheets/d/1NKozlUdXAUtY2wDAKzzB-6RLIdLI3ipkFQwAkIPmfXw/edit?usp=sharing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55743" y="4354687"/>
            <a:ext cx="7776524" cy="47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b="true" sz="2258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GOOGLE DATA STUDIO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55743" y="5002035"/>
            <a:ext cx="7776524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000" u="sng">
                <a:solidFill>
                  <a:srgbClr val="1A73E8"/>
                </a:solidFill>
                <a:latin typeface="Open Sans"/>
                <a:ea typeface="Open Sans"/>
                <a:cs typeface="Open Sans"/>
                <a:sym typeface="Open Sans"/>
                <a:hlinkClick r:id="rId6" tooltip="https://datastudio.google.com/reporting/fa952fc2-3cd4-4353-b6b3-6b2d91f87861"/>
              </a:rPr>
              <a:t>https://datastudio.google.com/reporting/e1e214b2-ee85-4613-b2c6-c2d8213d9b60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5743" y="6056138"/>
            <a:ext cx="7776524" cy="47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b="true" sz="2258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GOOGLE COLAB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5743" y="6703495"/>
            <a:ext cx="7776524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000" u="sng">
                <a:solidFill>
                  <a:srgbClr val="1A73E8"/>
                </a:solidFill>
                <a:latin typeface="Open Sans"/>
                <a:ea typeface="Open Sans"/>
                <a:cs typeface="Open Sans"/>
                <a:sym typeface="Open Sans"/>
                <a:hlinkClick r:id="rId7" tooltip="https://colab.research.google.com/drive/19lfAebtBVxmVJ7kF5xZY6WR6VqVNMyZE?usp=sharing"/>
              </a:rPr>
              <a:t>https://colab.research.google.com/drive/1GML4QJt9lH2UpKY7kFH-p9NbWeUhTWB_?usp=sharing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3319"/>
            <a:ext cx="8492452" cy="8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b="true" sz="6007">
                <a:solidFill>
                  <a:srgbClr val="20212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TERIMA KASIH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351930" y="1352140"/>
            <a:ext cx="703869" cy="7401887"/>
          </a:xfrm>
          <a:custGeom>
            <a:avLst/>
            <a:gdLst/>
            <a:ahLst/>
            <a:cxnLst/>
            <a:rect r="r" b="b" t="t" l="l"/>
            <a:pathLst>
              <a:path h="7401887" w="703869">
                <a:moveTo>
                  <a:pt x="0" y="0"/>
                </a:moveTo>
                <a:lnTo>
                  <a:pt x="703869" y="0"/>
                </a:lnTo>
                <a:lnTo>
                  <a:pt x="703869" y="7401887"/>
                </a:lnTo>
                <a:lnTo>
                  <a:pt x="0" y="740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DAHO-vLGGC4</dc:identifier>
  <dcterms:modified xsi:type="dcterms:W3CDTF">2011-08-01T06:04:30Z</dcterms:modified>
  <cp:revision>1</cp:revision>
  <dc:title>Jakarta F&amp;B KOL Authenticity Audit.pptx</dc:title>
</cp:coreProperties>
</file>